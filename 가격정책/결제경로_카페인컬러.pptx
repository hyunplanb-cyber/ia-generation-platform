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70" r:id="rId12"/>
    <p:sldId id="264" r:id="rId13"/>
    <p:sldId id="265" r:id="rId14"/>
    <p:sldId id="266" r:id="rId15"/>
    <p:sldId id="268" r:id="rId16"/>
    <p:sldId id="267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216" y="312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presProps" Target="presProps.xml"  /><Relationship Id="rId19" Type="http://schemas.openxmlformats.org/officeDocument/2006/relationships/viewProps" Target="viewProps.xml"  /><Relationship Id="rId2" Type="http://schemas.openxmlformats.org/officeDocument/2006/relationships/notesMaster" Target="notesMasters/notesMaster1.xml"  /><Relationship Id="rId20" Type="http://schemas.openxmlformats.org/officeDocument/2006/relationships/theme" Target="theme/theme1.xml"  /><Relationship Id="rId21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00611"/>
      </p:ext>
    </p:extLst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653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22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3400" b="1">
                <a:solidFill>
                  <a:srgbClr val="20261c"/>
                </a:solidFill>
                <a:latin typeface="바탕"/>
                <a:ea typeface="바탕"/>
              </a:rPr>
              <a:t>결제경로</a:t>
            </a:r>
            <a:endParaRPr lang="ko-KR" altLang="en-US" sz="3400" b="1">
              <a:solidFill>
                <a:srgbClr val="20261c"/>
              </a:solidFill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400">
                <a:solidFill>
                  <a:srgbClr val="6b5e4f"/>
                </a:solidFill>
                <a:latin typeface="바탕"/>
                <a:ea typeface="바탕"/>
              </a:rPr>
              <a:t>카드사 심사 제출용 · 포인트 충전 업종</a:t>
            </a:r>
            <a:endParaRPr lang="en-US" sz="1400">
              <a:latin typeface="바탕"/>
              <a:ea typeface="바탕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737360"/>
          <a:ext cx="8046720" cy="1920240"/>
        </p:xfrm>
        <a:graphic>
          <a:graphicData uri="http://schemas.openxmlformats.org/drawingml/2006/table">
            <a:tbl>
              <a:tblGrid>
                <a:gridCol w="2194560"/>
                <a:gridCol w="5852160"/>
              </a:tblGrid>
              <a:tr h="384048"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상호명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카페인컬러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84048"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사업자등록번호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608-79-25359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84048"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대표자명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최현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84048"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홈페이지 URL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https://caffeinecolor.com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  <a:tr h="384048"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 b="1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테스트 계정</a:t>
                      </a:r>
                      <a:endParaRPr lang="en-US" sz="1300"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lstStyle/>
                    <a:p>
                      <a:pPr marL="0" lvl="0" indent="0">
                        <a:buNone/>
                        <a:defRPr/>
                      </a:pPr>
                      <a:r>
                        <a:rPr lang="en-US" sz="1300">
                          <a:solidFill>
                            <a:srgbClr val="2a2320"/>
                          </a:solidFill>
                          <a:latin typeface="바탕"/>
                          <a:ea typeface="바탕"/>
                        </a:rPr>
                        <a:t>아이디: review@caffeinecolor.com 비밀번호: TossReview2026!</a:t>
                      </a:r>
                      <a:endParaRPr lang="en-US" sz="1300">
                        <a:solidFill>
                          <a:srgbClr val="2a2320"/>
                        </a:solidFill>
                        <a:latin typeface="바탕"/>
                        <a:ea typeface="바탕"/>
                      </a:endParaRPr>
                    </a:p>
                  </a:txBody>
                  <a:tcPr marL="91440" marR="91440">
                    <a:lnL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4d9c4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c25d17"/>
                </a:solidFill>
                <a:latin typeface="바탕"/>
                <a:ea typeface="바탕"/>
              </a:rPr>
              <a:t>※ 결제 확인은 위 테스트 계정으로 로그인 후 부탁드립니다. 비회원 상태에서는 결제 버튼이 열리지 않습니다.</a:t>
            </a:r>
            <a:endParaRPr lang="en-US" sz="1200">
              <a:latin typeface="바탕"/>
              <a:ea typeface="바탕"/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②  하단정보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394960" cy="7315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>
                <a:solidFill>
                  <a:srgbClr val="9a8c68"/>
                </a:solidFill>
                <a:latin typeface="바탕"/>
                <a:ea typeface="바탕"/>
              </a:rPr>
              <a:t>여기에 캡처를 끼웁니다</a:t>
            </a:r>
            <a:endParaRPr lang="en-US" sz="1300">
              <a:solidFill>
                <a:srgbClr val="9a8c68"/>
              </a:solidFill>
              <a:latin typeface="바탕"/>
              <a:ea typeface="바탕"/>
            </a:endParaRPr>
          </a:p>
          <a:p>
            <a:pPr marL="0" lvl="0" indent="0" algn="ctr">
              <a:buNone/>
              <a:defRPr/>
            </a:pPr>
            <a:r>
              <a:rPr lang="en-US" sz="1300">
                <a:solidFill>
                  <a:srgbClr val="9a8c68"/>
                </a:solidFill>
                <a:latin typeface="바탕"/>
                <a:ea typeface="바탕"/>
              </a:rPr>
              <a:t>(주소창이 보이도록 창째로)</a:t>
            </a:r>
            <a:endParaRPr lang="en-US" sz="13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258051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필수 정보가 모두 보이게 푸터까지 스크롤해서 캡처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상호명 카페인컬러 / 사업자등록번호 608-79-25359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대표자명 최현 / 주소 서울특별시 강남구 학동로4길 15, 719호 동화상가 (논현동)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전화번호 010-6526-9808 / 통신판매업신고번호 제 2026-서울강남-04184 호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사업자등록증과 «완전히 동일»해야 한다 — 한 글자만 달라도 반려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172217"/>
            <a:ext cx="5394960" cy="28713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③④  약관 및 환불 규정</a:t>
            </a:r>
            <a:endParaRPr lang="ko-KR" altLang="en-US" sz="2200" b="1">
              <a:solidFill>
                <a:srgbClr val="20261c"/>
              </a:solidFill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https://caffeinecolor.com/terms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80566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제6조(크레딧 및 결제) 전체 — 특히 ⑤ 유효기간 · ⑥ 양도 불가 · ⑦ 1회 10만원 이하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제7조(청약철회 및 환불) 전체 — 특히 ③ 구매 시점 결제 금액 기준 · ④ 결제한 수단으로 환불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두 조가 한 장에 안 들어가면 나눠서 두 장으로 찍는다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b="38780"/>
          <a:stretch>
            <a:fillRect/>
          </a:stretch>
        </p:blipFill>
        <p:spPr>
          <a:xfrm>
            <a:off x="457200" y="1143000"/>
            <a:ext cx="3751781" cy="24492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94325" y="3005270"/>
            <a:ext cx="3557604" cy="18395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⑤  로그인 경로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https://caffeinecolor.com/login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438275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로그인 화면과, 로그인을 누르는 경로(헤더 버튼)까지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심사관에게 전달할 테스트 계정으로 실제 로그인하는 흐름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회원가입 경로도 함께 찍어 두면 안전하다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143000"/>
            <a:ext cx="4638534" cy="39043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⑥-1  상품 선택 — 목록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https://caffeinecolor.com/packages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349003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AI팩 목록. 등급마다 «값이 보여야» 한다 — 값 없이 문의만 있으면 입점 불가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값은 크레딧으로 표기된다 (예: 503크레딧)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199" y="1143000"/>
            <a:ext cx="3474014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⑥-2  상품 선택 — 상세와 구매 버튼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https://caffeinecolor.com/packages/lms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680209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심사 기간에는 «플러스» 등급만 구매 버튼이 열린다(나머지는 「판매 준비 중」)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구매 버튼에 필요한 크레딧이 적혀 있는 화면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여기서 크레딧이 모자라면 충전으로 가는 흐름이 이어진다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143000"/>
            <a:ext cx="3420899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⑦-1  포인트 충전 — 금액 선택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https://caffeinecolor.com/dashboard/billing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31255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서비스 명칭(크레딧 충전)과 «선택형» 금액 옵션이 한 화면에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옵션: 5,000원(55크레딧) · 10,000원(120크레딧) · 20,000원(260크레딧) · 50,000원(650크레딧) · 99,000원(1287크레딧)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,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 충전횟수 제한없음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.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 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(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보너스 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10%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 추가 충전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)</a:t>
            </a:r>
            <a:endParaRPr lang="en-US" altLang="ko-KR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전부 100,000원 이하 — 임의 금액 입력칸이 없다는 것이 보여야 한다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</a:rPr>
              <a:t>⚠</a:t>
            </a: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 로그인 뒤 화면이라 테스트 계정으로 들어가서 찍는다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심사 기간에는 «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5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만원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,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 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550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크레딧 </a:t>
            </a: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» 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충전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(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최대 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2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회 가능</a:t>
            </a:r>
            <a:r>
              <a:rPr lang="en-US" altLang="ko-KR" sz="1000">
                <a:solidFill>
                  <a:srgbClr val="4e4a3b"/>
                </a:solidFill>
                <a:latin typeface="바탕"/>
                <a:ea typeface="바탕"/>
              </a:rPr>
              <a:t>)</a:t>
            </a: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만 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충전하기</a:t>
            </a: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 버튼이 열린다(나머지는 「</a:t>
            </a:r>
            <a:r>
              <a:rPr lang="ko-KR" altLang="en-US" sz="1000">
                <a:solidFill>
                  <a:srgbClr val="4e4a3b"/>
                </a:solidFill>
                <a:latin typeface="바탕"/>
                <a:ea typeface="바탕"/>
              </a:rPr>
              <a:t>결제 심사 준비</a:t>
            </a: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 중」)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142999"/>
            <a:ext cx="4283481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⑦-2  카드 결제창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 </a:t>
            </a: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— ①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 결제 방법 선택</a:t>
            </a:r>
            <a:endParaRPr lang="ko-KR" altLang="en-US" sz="2200" b="1">
              <a:solidFill>
                <a:srgbClr val="20261c"/>
              </a:solidFill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https://caffeinecolor.com/dashboard/billing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68021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금액을 고르고 「충전하기」를 눌러 토스 결제창이 뜬 상태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결제창에 «금액»이 찍혀 있어야 한다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테스트 결제창이어도 심사 가능(가이드 유의사항 6)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비씨·농협은 카드사 앱 화면까지 필요할 수 있다(유의사항 7)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143000"/>
            <a:ext cx="406736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⑦-2  카드 결제창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 </a:t>
            </a: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— ①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 결제 방법 선택 </a:t>
            </a: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— 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비씨카드</a:t>
            </a:r>
            <a:endParaRPr lang="ko-KR" altLang="en-US" sz="2200" b="1">
              <a:solidFill>
                <a:srgbClr val="20261c"/>
              </a:solidFill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https://caffeinecolor.com/dashboard/billing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68021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금액을 고르고 「충전하기」를 눌러 토스 결제창이 뜬 상태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결제창에 «금액»이 찍혀 있어야 한다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테스트 결제창이어도 심사 가능(가이드 유의사항 6)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비씨·농협은 카드사 앱 화면까지 필요할 수 있다(유의사항 7)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1298" y="1143000"/>
            <a:ext cx="5378701" cy="330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99029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⑦-2  카드 결제창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 </a:t>
            </a: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— ①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 결제 방법 선택 </a:t>
            </a: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— 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농협</a:t>
            </a:r>
            <a:endParaRPr lang="ko-KR" altLang="en-US" sz="2200" b="1">
              <a:solidFill>
                <a:srgbClr val="20261c"/>
              </a:solidFill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https://caffeinecolor.com/dashboard/billing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68021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금액을 고르고 「충전하기」를 눌러 토스 결제창이 뜬 상태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결제창에 «금액»이 찍혀 있어야 한다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테스트 결제창이어도 심사 가능(가이드 유의사항 6)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비씨·농협은 카드사 앱 화면까지 필요할 수 있다(유의사항 7)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52450" y="1142999"/>
            <a:ext cx="4506152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7386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⑧-1  결제 후 — 충전된 크레딧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https://caffeinecolor.com/dashboard/billing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5394960" cy="7315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 algn="ctr">
              <a:buNone/>
              <a:defRPr/>
            </a:pPr>
            <a:r>
              <a:rPr lang="en-US" sz="1300">
                <a:solidFill>
                  <a:srgbClr val="9a8c68"/>
                </a:solidFill>
                <a:latin typeface="바탕"/>
                <a:ea typeface="바탕"/>
              </a:rPr>
              <a:t>여기에 캡처를 끼웁니다</a:t>
            </a:r>
            <a:endParaRPr lang="en-US" sz="1300">
              <a:solidFill>
                <a:srgbClr val="9a8c68"/>
              </a:solidFill>
              <a:latin typeface="바탕"/>
              <a:ea typeface="바탕"/>
            </a:endParaRPr>
          </a:p>
          <a:p>
            <a:pPr marL="0" lvl="0" indent="0" algn="ctr">
              <a:buNone/>
              <a:defRPr/>
            </a:pPr>
            <a:r>
              <a:rPr lang="en-US" sz="1300">
                <a:solidFill>
                  <a:srgbClr val="9a8c68"/>
                </a:solidFill>
                <a:latin typeface="바탕"/>
                <a:ea typeface="바탕"/>
              </a:rPr>
              <a:t>(주소창이 보이도록 창째로)</a:t>
            </a:r>
            <a:endParaRPr lang="en-US" sz="13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925013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결제 완료 후 잔액이 늘어난 화면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충전 내역(언제 얼마가 몇 크레딧으로)까지 보이면 더 좋다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r="1710"/>
          <a:stretch>
            <a:fillRect/>
          </a:stretch>
        </p:blipFill>
        <p:spPr>
          <a:xfrm>
            <a:off x="457200" y="1205019"/>
            <a:ext cx="5490273" cy="34584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⑧-2  포인트 사용처 ①  AI팩 구매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https://caffeinecolor.com/packages/lms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39"/>
            <a:ext cx="2560320" cy="1343025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충전한 크레딧으로 AI팩을 사는 화면 — 누르면 크레딧이 빠지고 바로 다운로드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이것이 「충전한 포인트를 어디에 쓰는가」의 답이다(유의사항 3)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199" y="1143000"/>
            <a:ext cx="3335099" cy="39756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⑧-3  포인트 사용처 ②  직접 만들기</a:t>
            </a:r>
            <a:endParaRPr lang="en-US" sz="22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39"/>
            <a:ext cx="2560320" cy="110871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크레딧으로 산출물을 생성·다운로드하는 화면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사용처가 둘이라는 것을 보여 준다 — 팩 구매, 그리고 직접 만들기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143000"/>
            <a:ext cx="2624796" cy="24028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156530" y="1143000"/>
            <a:ext cx="2681260" cy="275340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⑧-3  포인트 사용처 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③</a:t>
            </a:r>
            <a:r>
              <a:rPr lang="en-US" sz="2200" b="1">
                <a:solidFill>
                  <a:srgbClr val="20261c"/>
                </a:solidFill>
                <a:latin typeface="바탕"/>
                <a:ea typeface="바탕"/>
              </a:rPr>
              <a:t> </a:t>
            </a:r>
            <a:r>
              <a:rPr lang="ko-KR" altLang="en-US" sz="2200" b="1">
                <a:solidFill>
                  <a:srgbClr val="20261c"/>
                </a:solidFill>
                <a:latin typeface="바탕"/>
                <a:ea typeface="바탕"/>
              </a:rPr>
              <a:t>파일다운로드</a:t>
            </a:r>
            <a:endParaRPr lang="ko-KR" altLang="en-US" sz="2200" b="1">
              <a:solidFill>
                <a:srgbClr val="20261c"/>
              </a:solidFill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>
                <a:solidFill>
                  <a:srgbClr val="0e6f60"/>
                </a:solidFill>
                <a:latin typeface="바탕"/>
                <a:ea typeface="바탕"/>
              </a:rPr>
              <a:t>https://caffeinecolor.com/dashboard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0" y="1143000"/>
            <a:ext cx="256032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1200" b="1">
                <a:solidFill>
                  <a:srgbClr val="2a2320"/>
                </a:solidFill>
                <a:latin typeface="바탕"/>
                <a:ea typeface="바탕"/>
              </a:rPr>
              <a:t>이 화면에 반드시 보여야 하는 것</a:t>
            </a:r>
            <a:endParaRPr lang="en-US" sz="1200">
              <a:latin typeface="바탕"/>
              <a:ea typeface="바탕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26480" y="1463040"/>
            <a:ext cx="2560320" cy="110871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크레딧으로 산출물을 생성·다운로드하는 화면</a:t>
            </a:r>
            <a:endParaRPr lang="en-US" sz="1000">
              <a:solidFill>
                <a:srgbClr val="4e4a3b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25000"/>
              </a:lnSpc>
              <a:buSzPct val="100000"/>
              <a:buChar char="•"/>
              <a:defRPr/>
            </a:pPr>
            <a:r>
              <a:rPr lang="en-US" sz="1000">
                <a:solidFill>
                  <a:srgbClr val="4e4a3b"/>
                </a:solidFill>
                <a:latin typeface="바탕"/>
                <a:ea typeface="바탕"/>
              </a:rPr>
              <a:t>사용처가 둘이라는 것을 보여 준다 — 팩 구매, 그리고 직접 만들기</a:t>
            </a:r>
            <a:endParaRPr lang="en-US" sz="1000">
              <a:latin typeface="바탕"/>
              <a:ea typeface="바탕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" y="1367517"/>
            <a:ext cx="4034760" cy="377598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572000" y="2571750"/>
            <a:ext cx="4437673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51636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lvl="0" indent="0">
              <a:buNone/>
              <a:defRPr/>
            </a:pPr>
            <a:r>
              <a:rPr lang="en-US" sz="2400" b="1">
                <a:solidFill>
                  <a:srgbClr val="20261c"/>
                </a:solidFill>
                <a:latin typeface="바탕"/>
                <a:ea typeface="바탕"/>
              </a:rPr>
              <a:t>제출 전 확인</a:t>
            </a:r>
            <a:endParaRPr lang="en-US" sz="2400">
              <a:latin typeface="바탕"/>
              <a:ea typeface="바탕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모든 캡처에 «도메인 주소»가 보인다 — localhost 로 찍은 것은 반려된다</a:t>
            </a:r>
            <a:endParaRPr lang="en-US" sz="1400">
              <a:solidFill>
                <a:srgbClr val="2a2320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PDF 가 아니라 «PPT» 로 보낸다</a:t>
            </a:r>
            <a:endParaRPr lang="en-US" sz="1400">
              <a:solidFill>
                <a:srgbClr val="2a2320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심사 기간(10~14일)에는 홈페이지를 바꾸지 않는다 — 값·상품·판매상태·하단정보</a:t>
            </a:r>
            <a:endParaRPr lang="en-US" sz="1400">
              <a:solidFill>
                <a:srgbClr val="2a2320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하단정보가 사업자등록증과 완전히 같다</a:t>
            </a:r>
            <a:endParaRPr lang="en-US" sz="1400">
              <a:solidFill>
                <a:srgbClr val="2a2320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테스트 계정을 계약담당자에게 함께 전달한다</a:t>
            </a:r>
            <a:endParaRPr lang="en-US" sz="1400">
              <a:solidFill>
                <a:srgbClr val="2a2320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임의 금액 입력 충전이 없다 · 모든 옵션이 10만원 이하다</a:t>
            </a:r>
            <a:endParaRPr lang="en-US" sz="1400">
              <a:solidFill>
                <a:srgbClr val="2a2320"/>
              </a:solidFill>
              <a:latin typeface="바탕"/>
              <a:ea typeface="바탕"/>
            </a:endParaRPr>
          </a:p>
          <a:p>
            <a:pPr marL="342900" lvl="0" indent="-342900">
              <a:lnSpc>
                <a:spcPct val="160000"/>
              </a:lnSpc>
              <a:buSzPct val="100000"/>
              <a:buChar char="•"/>
              <a:defRPr/>
            </a:pPr>
            <a:r>
              <a:rPr lang="en-US" sz="1400">
                <a:solidFill>
                  <a:srgbClr val="2a2320"/>
                </a:solidFill>
                <a:latin typeface="바탕"/>
                <a:ea typeface="바탕"/>
              </a:rPr>
              <a:t>약관에 환불 수단·양도 불가·유효기간이 적혀 있다</a:t>
            </a:r>
            <a:endParaRPr lang="en-US" sz="1400">
              <a:latin typeface="바탕"/>
              <a:ea typeface="바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566</ep:Words>
  <ep:PresentationFormat>On-screen Show (16:9)</ep:PresentationFormat>
  <ep:Paragraphs>95</ep:Paragraphs>
  <ep:Slides>15</ep:Slides>
  <ep:Notes>15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2026-08-09T09:09:15.000</dcterms:created>
  <dc:creator>PptxGenJS</dc:creator>
  <cp:lastModifiedBy>glim0</cp:lastModifiedBy>
  <dcterms:modified xsi:type="dcterms:W3CDTF">2026-08-09T12:16:39.372</dcterms:modified>
  <cp:revision>23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