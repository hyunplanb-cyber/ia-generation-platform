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0261C"/>
                </a:solidFill>
              </a:rPr>
              <a:t>결제경로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5E4F"/>
                </a:solidFill>
              </a:rPr>
              <a:t>카드사 심사 제출용 · 포인트 충전 업종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80467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852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A2320"/>
                          </a:solidFill>
                        </a:rPr>
                        <a:t>상호명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320"/>
                          </a:solidFill>
                        </a:rPr>
                        <a:t>카페인컬러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A2320"/>
                          </a:solidFill>
                        </a:rPr>
                        <a:t>사업자등록번호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320"/>
                          </a:solidFill>
                        </a:rPr>
                        <a:t>608-79-25359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A2320"/>
                          </a:solidFill>
                        </a:rPr>
                        <a:t>대표자명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320"/>
                          </a:solidFill>
                        </a:rPr>
                        <a:t>최현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A2320"/>
                          </a:solidFill>
                        </a:rPr>
                        <a:t>홈페이지 URL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320"/>
                          </a:solidFill>
                        </a:rPr>
                        <a:t>https://caffeinecolor.com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A2320"/>
                          </a:solidFill>
                        </a:rPr>
                        <a:t>테스트 계정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320"/>
                          </a:solidFill>
                        </a:rPr>
                        <a:t>아이디: ____________  비밀번호: ____________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5D17"/>
                </a:solidFill>
              </a:rPr>
              <a:t>※ 결제 확인은 위 테스트 계정으로 로그인 후 부탁드립니다. 비회원 상태에서는 결제 버튼이 열리지 않습니다.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261C"/>
                </a:solidFill>
              </a:rPr>
              <a:t>②  하단정보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6F60"/>
                </a:solidFill>
              </a:rPr>
              <a:t>https://caffeinecolor.com/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394960" cy="3566160"/>
          </a:xfrm>
          <a:prstGeom prst="rect">
            <a:avLst/>
          </a:prstGeom>
          <a:solidFill>
            <a:srgbClr val="FBF9F4"/>
          </a:solidFill>
          <a:ln w="12700">
            <a:solidFill>
              <a:srgbClr val="D8D4C6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560320"/>
            <a:ext cx="5394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8C68"/>
                </a:solidFill>
              </a:rPr>
              <a:t>여기에 캡처를 끼웁니다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8C68"/>
                </a:solidFill>
              </a:rPr>
              <a:t>(주소창이 보이도록 창째로)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126480" y="11430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320"/>
                </a:solidFill>
              </a:rPr>
              <a:t>이 화면에 반드시 보여야 하는 것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26480" y="1463040"/>
            <a:ext cx="25603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필수 정보가 모두 보이게 푸터까지 스크롤해서 캡처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상호명 카페인컬러 / 사업자등록번호 608-79-25359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대표자명 최현 / 주소 서울특별시 강남구 학동로4길 15, 719호 동화상가 (논현동)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전화번호 010-6526-9808 / 통신판매업신고번호 제 2026-서울강남-04184 호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사업자등록증과 «완전히 동일»해야 한다 — 한 글자만 달라도 반려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261C"/>
                </a:solidFill>
              </a:rPr>
              <a:t>③④  약관 및 환불 규정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6F60"/>
                </a:solidFill>
              </a:rPr>
              <a:t>https://caffeinecolor.com/terms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394960" cy="3566160"/>
          </a:xfrm>
          <a:prstGeom prst="rect">
            <a:avLst/>
          </a:prstGeom>
          <a:solidFill>
            <a:srgbClr val="FBF9F4"/>
          </a:solidFill>
          <a:ln w="12700">
            <a:solidFill>
              <a:srgbClr val="D8D4C6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560320"/>
            <a:ext cx="5394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8C68"/>
                </a:solidFill>
              </a:rPr>
              <a:t>여기에 캡처를 끼웁니다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8C68"/>
                </a:solidFill>
              </a:rPr>
              <a:t>(주소창이 보이도록 창째로)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126480" y="11430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320"/>
                </a:solidFill>
              </a:rPr>
              <a:t>이 화면에 반드시 보여야 하는 것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26480" y="1463040"/>
            <a:ext cx="25603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제6조(크레딧 및 결제) 전체 — 특히 ⑤ 유효기간 · ⑥ 양도 불가 · ⑦ 1회 10만원 이하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제7조(청약철회 및 환불) 전체 — 특히 ③ 구매 시점 결제 금액 기준 · ④ 결제한 수단으로 환불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두 조가 한 장에 안 들어가면 나눠서 두 장으로 찍는다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261C"/>
                </a:solidFill>
              </a:rPr>
              <a:t>⑤  로그인 경로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6F60"/>
                </a:solidFill>
              </a:rPr>
              <a:t>https://caffeinecolor.com/login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394960" cy="3566160"/>
          </a:xfrm>
          <a:prstGeom prst="rect">
            <a:avLst/>
          </a:prstGeom>
          <a:solidFill>
            <a:srgbClr val="FBF9F4"/>
          </a:solidFill>
          <a:ln w="12700">
            <a:solidFill>
              <a:srgbClr val="D8D4C6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560320"/>
            <a:ext cx="5394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8C68"/>
                </a:solidFill>
              </a:rPr>
              <a:t>여기에 캡처를 끼웁니다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8C68"/>
                </a:solidFill>
              </a:rPr>
              <a:t>(주소창이 보이도록 창째로)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126480" y="11430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320"/>
                </a:solidFill>
              </a:rPr>
              <a:t>이 화면에 반드시 보여야 하는 것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26480" y="1463040"/>
            <a:ext cx="25603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로그인 화면과, 로그인을 누르는 경로(헤더 버튼)까지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심사관에게 전달할 테스트 계정으로 실제 로그인하는 흐름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회원가입 경로도 함께 찍어 두면 안전하다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261C"/>
                </a:solidFill>
              </a:rPr>
              <a:t>⑥-1  상품 선택 — 목록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6F60"/>
                </a:solidFill>
              </a:rPr>
              <a:t>https://caffeinecolor.com/packages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394960" cy="3566160"/>
          </a:xfrm>
          <a:prstGeom prst="rect">
            <a:avLst/>
          </a:prstGeom>
          <a:solidFill>
            <a:srgbClr val="FBF9F4"/>
          </a:solidFill>
          <a:ln w="12700">
            <a:solidFill>
              <a:srgbClr val="D8D4C6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560320"/>
            <a:ext cx="5394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8C68"/>
                </a:solidFill>
              </a:rPr>
              <a:t>여기에 캡처를 끼웁니다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8C68"/>
                </a:solidFill>
              </a:rPr>
              <a:t>(주소창이 보이도록 창째로)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126480" y="11430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320"/>
                </a:solidFill>
              </a:rPr>
              <a:t>이 화면에 반드시 보여야 하는 것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26480" y="1463040"/>
            <a:ext cx="25603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AI팩 목록. 등급마다 «값이 보여야» 한다 — 값 없이 문의만 있으면 입점 불가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값은 크레딧으로 표기된다 (예: 503크레딧)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261C"/>
                </a:solidFill>
              </a:rPr>
              <a:t>⑥-2  상품 선택 — 상세와 구매 버튼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6F60"/>
                </a:solidFill>
              </a:rPr>
              <a:t>https://caffeinecolor.com/packages/lms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394960" cy="3566160"/>
          </a:xfrm>
          <a:prstGeom prst="rect">
            <a:avLst/>
          </a:prstGeom>
          <a:solidFill>
            <a:srgbClr val="FBF9F4"/>
          </a:solidFill>
          <a:ln w="12700">
            <a:solidFill>
              <a:srgbClr val="D8D4C6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560320"/>
            <a:ext cx="5394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8C68"/>
                </a:solidFill>
              </a:rPr>
              <a:t>여기에 캡처를 끼웁니다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8C68"/>
                </a:solidFill>
              </a:rPr>
              <a:t>(주소창이 보이도록 창째로)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126480" y="11430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320"/>
                </a:solidFill>
              </a:rPr>
              <a:t>이 화면에 반드시 보여야 하는 것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26480" y="1463040"/>
            <a:ext cx="25603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심사 기간에는 «플러스» 등급만 구매 버튼이 열린다(나머지는 「판매 준비 중」)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구매 버튼에 필요한 크레딧이 적혀 있는 화면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여기서 크레딧이 모자라면 충전으로 가는 흐름이 이어진다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261C"/>
                </a:solidFill>
              </a:rPr>
              <a:t>⑦-1  포인트 충전 — 금액 선택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6F60"/>
                </a:solidFill>
              </a:rPr>
              <a:t>https://caffeinecolor.com/dashboard/billing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394960" cy="3566160"/>
          </a:xfrm>
          <a:prstGeom prst="rect">
            <a:avLst/>
          </a:prstGeom>
          <a:solidFill>
            <a:srgbClr val="FBF9F4"/>
          </a:solidFill>
          <a:ln w="12700">
            <a:solidFill>
              <a:srgbClr val="D8D4C6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560320"/>
            <a:ext cx="5394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8C68"/>
                </a:solidFill>
              </a:rPr>
              <a:t>여기에 캡처를 끼웁니다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8C68"/>
                </a:solidFill>
              </a:rPr>
              <a:t>(주소창이 보이도록 창째로)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126480" y="11430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320"/>
                </a:solidFill>
              </a:rPr>
              <a:t>이 화면에 반드시 보여야 하는 것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26480" y="1463040"/>
            <a:ext cx="25603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서비스 명칭(크레딧 충전)과 «선택형» 금액 옵션이 한 화면에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옵션: 5,000원(55크레딧) · 10,000원(120크레딧) · 20,000원(260크레딧) · 50,000원(650크레딧) · 99,000원(1287크레딧)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전부 100,000원 이하 — 임의 금액 입력칸이 없다는 것이 보여야 한다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⚠ 로그인 뒤 화면이라 테스트 계정으로 들어가서 찍는다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261C"/>
                </a:solidFill>
              </a:rPr>
              <a:t>⑦-2  카드 결제창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6F60"/>
                </a:solidFill>
              </a:rPr>
              <a:t>https://caffeinecolor.com/dashboard/billing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394960" cy="3566160"/>
          </a:xfrm>
          <a:prstGeom prst="rect">
            <a:avLst/>
          </a:prstGeom>
          <a:solidFill>
            <a:srgbClr val="FBF9F4"/>
          </a:solidFill>
          <a:ln w="12700">
            <a:solidFill>
              <a:srgbClr val="D8D4C6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560320"/>
            <a:ext cx="5394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8C68"/>
                </a:solidFill>
              </a:rPr>
              <a:t>여기에 캡처를 끼웁니다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8C68"/>
                </a:solidFill>
              </a:rPr>
              <a:t>(주소창이 보이도록 창째로)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126480" y="11430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320"/>
                </a:solidFill>
              </a:rPr>
              <a:t>이 화면에 반드시 보여야 하는 것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26480" y="1463040"/>
            <a:ext cx="25603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금액을 고르고 「충전하기」를 눌러 토스 결제창이 뜬 상태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결제창에 «금액»이 찍혀 있어야 한다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테스트 결제창이어도 심사 가능(가이드 유의사항 6)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비씨·농협은 카드사 앱 화면까지 필요할 수 있다(유의사항 7)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261C"/>
                </a:solidFill>
              </a:rPr>
              <a:t>⑧-1  결제 후 — 충전된 크레딧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6F60"/>
                </a:solidFill>
              </a:rPr>
              <a:t>https://caffeinecolor.com/dashboard/billing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394960" cy="3566160"/>
          </a:xfrm>
          <a:prstGeom prst="rect">
            <a:avLst/>
          </a:prstGeom>
          <a:solidFill>
            <a:srgbClr val="FBF9F4"/>
          </a:solidFill>
          <a:ln w="12700">
            <a:solidFill>
              <a:srgbClr val="D8D4C6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560320"/>
            <a:ext cx="5394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8C68"/>
                </a:solidFill>
              </a:rPr>
              <a:t>여기에 캡처를 끼웁니다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8C68"/>
                </a:solidFill>
              </a:rPr>
              <a:t>(주소창이 보이도록 창째로)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126480" y="11430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320"/>
                </a:solidFill>
              </a:rPr>
              <a:t>이 화면에 반드시 보여야 하는 것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26480" y="1463040"/>
            <a:ext cx="25603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결제 완료 후 잔액이 늘어난 화면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충전 내역(언제 얼마가 몇 크레딧으로)까지 보이면 더 좋다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261C"/>
                </a:solidFill>
              </a:rPr>
              <a:t>⑧-2  포인트 사용처 ①  AI팩 구매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6F60"/>
                </a:solidFill>
              </a:rPr>
              <a:t>https://caffeinecolor.com/packages/lms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394960" cy="3566160"/>
          </a:xfrm>
          <a:prstGeom prst="rect">
            <a:avLst/>
          </a:prstGeom>
          <a:solidFill>
            <a:srgbClr val="FBF9F4"/>
          </a:solidFill>
          <a:ln w="12700">
            <a:solidFill>
              <a:srgbClr val="D8D4C6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560320"/>
            <a:ext cx="5394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8C68"/>
                </a:solidFill>
              </a:rPr>
              <a:t>여기에 캡처를 끼웁니다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8C68"/>
                </a:solidFill>
              </a:rPr>
              <a:t>(주소창이 보이도록 창째로)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126480" y="11430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320"/>
                </a:solidFill>
              </a:rPr>
              <a:t>이 화면에 반드시 보여야 하는 것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26480" y="1463040"/>
            <a:ext cx="25603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충전한 크레딧으로 AI팩을 사는 화면 — 누르면 크레딧이 빠지고 바로 다운로드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이것이 「충전한 포인트를 어디에 쓰는가」의 답이다(유의사항 3)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261C"/>
                </a:solidFill>
              </a:rPr>
              <a:t>⑧-3  포인트 사용처 ②  직접 만들기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6F60"/>
                </a:solidFill>
              </a:rPr>
              <a:t>https://caffeinecolor.com/dashboard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394960" cy="3566160"/>
          </a:xfrm>
          <a:prstGeom prst="rect">
            <a:avLst/>
          </a:prstGeom>
          <a:solidFill>
            <a:srgbClr val="FBF9F4"/>
          </a:solidFill>
          <a:ln w="12700">
            <a:solidFill>
              <a:srgbClr val="D8D4C6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560320"/>
            <a:ext cx="5394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8C68"/>
                </a:solidFill>
              </a:rPr>
              <a:t>여기에 캡처를 끼웁니다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A8C68"/>
                </a:solidFill>
              </a:rPr>
              <a:t>(주소창이 보이도록 창째로)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126480" y="11430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320"/>
                </a:solidFill>
              </a:rPr>
              <a:t>이 화면에 반드시 보여야 하는 것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26480" y="1463040"/>
            <a:ext cx="25603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크레딧으로 산출물을 생성·다운로드하는 화면</a:t>
            </a:r>
            <a:endParaRPr lang="en-US" sz="1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4E4A3B"/>
                </a:solidFill>
              </a:rPr>
              <a:t>사용처가 둘이라는 것을 보여 준다 — 팩 구매, 그리고 직접 만들기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0261C"/>
                </a:solidFill>
              </a:rPr>
              <a:t>제출 전 확인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400" dirty="0">
                <a:solidFill>
                  <a:srgbClr val="2A2320"/>
                </a:solidFill>
              </a:rPr>
              <a:t>모든 캡처에 «도메인 주소»가 보인다 — localhost 로 찍은 것은 반려된다</a:t>
            </a:r>
            <a:endParaRPr lang="en-US" sz="14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400" dirty="0">
                <a:solidFill>
                  <a:srgbClr val="2A2320"/>
                </a:solidFill>
              </a:rPr>
              <a:t>PDF 가 아니라 «PPT» 로 보낸다</a:t>
            </a:r>
            <a:endParaRPr lang="en-US" sz="14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400" dirty="0">
                <a:solidFill>
                  <a:srgbClr val="2A2320"/>
                </a:solidFill>
              </a:rPr>
              <a:t>심사 기간(10~14일)에는 홈페이지를 바꾸지 않는다 — 값·상품·판매상태·하단정보</a:t>
            </a:r>
            <a:endParaRPr lang="en-US" sz="14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400" dirty="0">
                <a:solidFill>
                  <a:srgbClr val="2A2320"/>
                </a:solidFill>
              </a:rPr>
              <a:t>하단정보가 사업자등록증과 완전히 같다</a:t>
            </a:r>
            <a:endParaRPr lang="en-US" sz="14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400" dirty="0">
                <a:solidFill>
                  <a:srgbClr val="2A2320"/>
                </a:solidFill>
              </a:rPr>
              <a:t>테스트 계정을 계약담당자에게 함께 전달한다</a:t>
            </a:r>
            <a:endParaRPr lang="en-US" sz="14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400" dirty="0">
                <a:solidFill>
                  <a:srgbClr val="2A2320"/>
                </a:solidFill>
              </a:rPr>
              <a:t>임의 금액 입력 충전이 없다 · 모든 옵션이 10만원 이하다</a:t>
            </a:r>
            <a:endParaRPr lang="en-US" sz="14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400" dirty="0">
                <a:solidFill>
                  <a:srgbClr val="2A2320"/>
                </a:solidFill>
              </a:rPr>
              <a:t>약관에 환불 수단·양도 불가·유효기간이 적혀 있다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2026-08-09T09:09:15Z</dcterms:created>
  <dcterms:modified xsi:type="dcterms:W3CDTF">2026-08-09T09:09:15Z</dcterms:modified>
</cp:coreProperties>
</file>