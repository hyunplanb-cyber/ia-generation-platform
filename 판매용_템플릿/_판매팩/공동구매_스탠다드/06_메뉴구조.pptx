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9144000" cy="5148072"/>
  <p:notesSz cx="5148072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0" y="365760"/>
            <a:ext cx="1828800" cy="502920"/>
          </a:xfrm>
          <a:prstGeom prst="roundRect">
            <a:avLst>
              <a:gd name="adj" fmla="val 9091"/>
            </a:avLst>
          </a:prstGeom>
          <a:solidFill>
            <a:srgbClr val="EEEEF0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F2024"/>
                </a:solidFill>
              </a:rPr>
              <a:t>공동구매(공구) 플랫폼</a:t>
            </a:r>
            <a:endParaRPr lang="en-US" sz="1200" dirty="0"/>
          </a:p>
        </p:txBody>
      </p:sp>
      <p:sp>
        <p:nvSpPr>
          <p:cNvPr id="3" name="Shape 1"/>
          <p:cNvSpPr/>
          <p:nvPr/>
        </p:nvSpPr>
        <p:spPr>
          <a:xfrm flipH="1">
            <a:off x="479644" y="868680"/>
            <a:ext cx="4092356" cy="502920"/>
          </a:xfrm>
          <a:prstGeom prst="line">
            <a:avLst/>
          </a:prstGeom>
          <a:noFill/>
          <a:ln w="12700">
            <a:solidFill>
              <a:srgbClr val="E2D3AE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9876" y="1371600"/>
            <a:ext cx="859536" cy="502920"/>
          </a:xfrm>
          <a:prstGeom prst="roundRect">
            <a:avLst>
              <a:gd name="adj" fmla="val 9091"/>
            </a:avLst>
          </a:prstGeom>
          <a:solidFill>
            <a:srgbClr val="E4762C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홈·탐색</a:t>
            </a:r>
            <a:pPr algn="ctr" indent="0" marL="0">
              <a:buNone/>
            </a:pPr>
            <a:r>
              <a:rPr lang="en-US" sz="900" dirty="0">
                <a:solidFill>
                  <a:srgbClr val="FBE7D3"/>
                </a:solidFill>
              </a:rPr>
              <a:t>  HO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479644" y="1874520"/>
            <a:ext cx="914" cy="118872"/>
          </a:xfrm>
          <a:prstGeom prst="line">
            <a:avLst/>
          </a:prstGeom>
          <a:noFill/>
          <a:ln w="12700">
            <a:solidFill>
              <a:srgbClr val="E2D3A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9876" y="1993392"/>
            <a:ext cx="859536" cy="50292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E2D3AE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F2024"/>
                </a:solidFill>
              </a:rPr>
              <a:t>홈</a:t>
            </a:r>
            <a:pPr algn="ctr" indent="0" marL="0">
              <a:buNone/>
            </a:pPr>
            <a:endParaRPr lang="en-US" sz="10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6B6F76"/>
                </a:solidFill>
              </a:rPr>
              <a:t>HO-01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479644" y="2496312"/>
            <a:ext cx="914" cy="118872"/>
          </a:xfrm>
          <a:prstGeom prst="line">
            <a:avLst/>
          </a:prstGeom>
          <a:noFill/>
          <a:ln w="12700">
            <a:solidFill>
              <a:srgbClr val="E2D3A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9876" y="2615184"/>
            <a:ext cx="859536" cy="50292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E2D3AE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F2024"/>
                </a:solidFill>
              </a:rPr>
              <a:t>공구 목록</a:t>
            </a:r>
            <a:pPr algn="ctr" indent="0" marL="0">
              <a:buNone/>
            </a:pPr>
            <a:endParaRPr lang="en-US" sz="10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6B6F76"/>
                </a:solidFill>
              </a:rPr>
              <a:t>HO-02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479644" y="3118104"/>
            <a:ext cx="914" cy="118872"/>
          </a:xfrm>
          <a:prstGeom prst="line">
            <a:avLst/>
          </a:prstGeom>
          <a:noFill/>
          <a:ln w="12700">
            <a:solidFill>
              <a:srgbClr val="E2D3A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9876" y="3236976"/>
            <a:ext cx="859536" cy="50292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E2D3AE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F2024"/>
                </a:solidFill>
              </a:rPr>
              <a:t>마감 임박 타임딜</a:t>
            </a:r>
            <a:pPr algn="ctr" indent="0" marL="0">
              <a:buNone/>
            </a:pPr>
            <a:endParaRPr lang="en-US" sz="10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6B6F76"/>
                </a:solidFill>
              </a:rPr>
              <a:t>HO-03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79644" y="3739896"/>
            <a:ext cx="914" cy="118872"/>
          </a:xfrm>
          <a:prstGeom prst="line">
            <a:avLst/>
          </a:prstGeom>
          <a:noFill/>
          <a:ln w="12700">
            <a:solidFill>
              <a:srgbClr val="E2D3AE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9876" y="3858768"/>
            <a:ext cx="859536" cy="50292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E2D3AE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F2024"/>
                </a:solidFill>
              </a:rPr>
              <a:t>공구 목록 - 결과 없음</a:t>
            </a:r>
            <a:pPr algn="ctr" indent="0" marL="0">
              <a:buNone/>
            </a:pPr>
            <a:endParaRPr lang="en-US" sz="10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6B6F76"/>
                </a:solidFill>
              </a:rPr>
              <a:t>HO-04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 flipH="1">
            <a:off x="1389057" y="868680"/>
            <a:ext cx="3182943" cy="502920"/>
          </a:xfrm>
          <a:prstGeom prst="line">
            <a:avLst/>
          </a:prstGeom>
          <a:noFill/>
          <a:ln w="12700">
            <a:solidFill>
              <a:srgbClr val="E2D3AE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959289" y="1371600"/>
            <a:ext cx="859536" cy="502920"/>
          </a:xfrm>
          <a:prstGeom prst="roundRect">
            <a:avLst>
              <a:gd name="adj" fmla="val 9091"/>
            </a:avLst>
          </a:prstGeom>
          <a:solidFill>
            <a:srgbClr val="E4762C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공구 상세</a:t>
            </a:r>
            <a:pPr algn="ctr" indent="0" marL="0">
              <a:buNone/>
            </a:pPr>
            <a:r>
              <a:rPr lang="en-US" sz="900" dirty="0">
                <a:solidFill>
                  <a:srgbClr val="FBE7D3"/>
                </a:solidFill>
              </a:rPr>
              <a:t>  DE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1389057" y="1874520"/>
            <a:ext cx="914" cy="118872"/>
          </a:xfrm>
          <a:prstGeom prst="line">
            <a:avLst/>
          </a:prstGeom>
          <a:noFill/>
          <a:ln w="12700">
            <a:solidFill>
              <a:srgbClr val="E2D3AE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59289" y="1993392"/>
            <a:ext cx="859536" cy="50292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E2D3AE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F2024"/>
                </a:solidFill>
              </a:rPr>
              <a:t>공구 상세</a:t>
            </a:r>
            <a:pPr algn="ctr" indent="0" marL="0">
              <a:buNone/>
            </a:pPr>
            <a:endParaRPr lang="en-US" sz="10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6B6F76"/>
                </a:solidFill>
              </a:rPr>
              <a:t>DE-01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1389057" y="2496312"/>
            <a:ext cx="914" cy="118872"/>
          </a:xfrm>
          <a:prstGeom prst="line">
            <a:avLst/>
          </a:prstGeom>
          <a:noFill/>
          <a:ln w="12700">
            <a:solidFill>
              <a:srgbClr val="E2D3AE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959289" y="2615184"/>
            <a:ext cx="859536" cy="50292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E2D3AE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F2024"/>
                </a:solidFill>
              </a:rPr>
              <a:t>상품 상세정보·거래 조건</a:t>
            </a:r>
            <a:pPr algn="ctr" indent="0" marL="0">
              <a:buNone/>
            </a:pPr>
            <a:endParaRPr lang="en-US" sz="10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6B6F76"/>
                </a:solidFill>
              </a:rPr>
              <a:t>DE-02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1389057" y="3118104"/>
            <a:ext cx="914" cy="118872"/>
          </a:xfrm>
          <a:prstGeom prst="line">
            <a:avLst/>
          </a:prstGeom>
          <a:noFill/>
          <a:ln w="12700">
            <a:solidFill>
              <a:srgbClr val="E2D3AE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959289" y="3236976"/>
            <a:ext cx="859536" cy="50292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E2D3AE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F2024"/>
                </a:solidFill>
              </a:rPr>
              <a:t>공구 마감 - 성사</a:t>
            </a:r>
            <a:pPr algn="ctr" indent="0" marL="0">
              <a:buNone/>
            </a:pPr>
            <a:endParaRPr lang="en-US" sz="10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6B6F76"/>
                </a:solidFill>
              </a:rPr>
              <a:t>DE-03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1389057" y="3739896"/>
            <a:ext cx="914" cy="118872"/>
          </a:xfrm>
          <a:prstGeom prst="line">
            <a:avLst/>
          </a:prstGeom>
          <a:noFill/>
          <a:ln w="12700">
            <a:solidFill>
              <a:srgbClr val="E2D3AE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959289" y="3858768"/>
            <a:ext cx="859536" cy="50292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E2D3AE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F2024"/>
                </a:solidFill>
              </a:rPr>
              <a:t>공구 마감 - 불발(미달)</a:t>
            </a:r>
            <a:pPr algn="ctr" indent="0" marL="0">
              <a:buNone/>
            </a:pPr>
            <a:endParaRPr lang="en-US" sz="10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6B6F76"/>
                </a:solidFill>
              </a:rPr>
              <a:t>DE-04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 flipH="1">
            <a:off x="2298469" y="868680"/>
            <a:ext cx="2273531" cy="502920"/>
          </a:xfrm>
          <a:prstGeom prst="line">
            <a:avLst/>
          </a:prstGeom>
          <a:noFill/>
          <a:ln w="12700">
            <a:solidFill>
              <a:srgbClr val="E2D3AE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1868701" y="1371600"/>
            <a:ext cx="859536" cy="502920"/>
          </a:xfrm>
          <a:prstGeom prst="roundRect">
            <a:avLst>
              <a:gd name="adj" fmla="val 9091"/>
            </a:avLst>
          </a:prstGeom>
          <a:solidFill>
            <a:srgbClr val="E4762C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참여·결제</a:t>
            </a:r>
            <a:pPr algn="ctr" indent="0" marL="0">
              <a:buNone/>
            </a:pPr>
            <a:r>
              <a:rPr lang="en-US" sz="900" dirty="0">
                <a:solidFill>
                  <a:srgbClr val="FBE7D3"/>
                </a:solidFill>
              </a:rPr>
              <a:t>  JO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2298469" y="1874520"/>
            <a:ext cx="914" cy="118872"/>
          </a:xfrm>
          <a:prstGeom prst="line">
            <a:avLst/>
          </a:prstGeom>
          <a:noFill/>
          <a:ln w="12700">
            <a:solidFill>
              <a:srgbClr val="E2D3AE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1868701" y="1993392"/>
            <a:ext cx="859536" cy="50292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E2D3AE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F2024"/>
                </a:solidFill>
              </a:rPr>
              <a:t>옵션·수량 선택</a:t>
            </a:r>
            <a:pPr algn="ctr" indent="0" marL="0">
              <a:buNone/>
            </a:pPr>
            <a:endParaRPr lang="en-US" sz="10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6B6F76"/>
                </a:solidFill>
              </a:rPr>
              <a:t>JO-01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2298469" y="2496312"/>
            <a:ext cx="914" cy="118872"/>
          </a:xfrm>
          <a:prstGeom prst="line">
            <a:avLst/>
          </a:prstGeom>
          <a:noFill/>
          <a:ln w="12700">
            <a:solidFill>
              <a:srgbClr val="E2D3AE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1868701" y="2615184"/>
            <a:ext cx="859536" cy="50292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E2D3AE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F2024"/>
                </a:solidFill>
              </a:rPr>
              <a:t>참여 결제</a:t>
            </a:r>
            <a:pPr algn="ctr" indent="0" marL="0">
              <a:buNone/>
            </a:pPr>
            <a:endParaRPr lang="en-US" sz="10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6B6F76"/>
                </a:solidFill>
              </a:rPr>
              <a:t>JO-02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2298469" y="3118104"/>
            <a:ext cx="914" cy="118872"/>
          </a:xfrm>
          <a:prstGeom prst="line">
            <a:avLst/>
          </a:prstGeom>
          <a:noFill/>
          <a:ln w="12700">
            <a:solidFill>
              <a:srgbClr val="E2D3AE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1868701" y="3236976"/>
            <a:ext cx="859536" cy="50292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E2D3AE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F2024"/>
                </a:solidFill>
              </a:rPr>
              <a:t>참여 완료</a:t>
            </a:r>
            <a:pPr algn="ctr" indent="0" marL="0">
              <a:buNone/>
            </a:pPr>
            <a:endParaRPr lang="en-US" sz="10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6B6F76"/>
                </a:solidFill>
              </a:rPr>
              <a:t>JO-03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2298469" y="3739896"/>
            <a:ext cx="914" cy="118872"/>
          </a:xfrm>
          <a:prstGeom prst="line">
            <a:avLst/>
          </a:prstGeom>
          <a:noFill/>
          <a:ln w="12700">
            <a:solidFill>
              <a:srgbClr val="E2D3AE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1868701" y="3858768"/>
            <a:ext cx="859536" cy="50292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E2D3AE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F2024"/>
                </a:solidFill>
              </a:rPr>
              <a:t>결제 실패</a:t>
            </a:r>
            <a:pPr algn="ctr" indent="0" marL="0">
              <a:buNone/>
            </a:pPr>
            <a:endParaRPr lang="en-US" sz="10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6B6F76"/>
                </a:solidFill>
              </a:rPr>
              <a:t>JO-04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 flipH="1">
            <a:off x="3207881" y="868680"/>
            <a:ext cx="1364119" cy="502920"/>
          </a:xfrm>
          <a:prstGeom prst="line">
            <a:avLst/>
          </a:prstGeom>
          <a:noFill/>
          <a:ln w="12700">
            <a:solidFill>
              <a:srgbClr val="E2D3AE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2778113" y="1371600"/>
            <a:ext cx="859536" cy="502920"/>
          </a:xfrm>
          <a:prstGeom prst="roundRect">
            <a:avLst>
              <a:gd name="adj" fmla="val 9091"/>
            </a:avLst>
          </a:prstGeom>
          <a:solidFill>
            <a:srgbClr val="E4762C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내 공구함</a:t>
            </a:r>
            <a:pPr algn="ctr" indent="0" marL="0">
              <a:buNone/>
            </a:pPr>
            <a:r>
              <a:rPr lang="en-US" sz="900" dirty="0">
                <a:solidFill>
                  <a:srgbClr val="FBE7D3"/>
                </a:solidFill>
              </a:rPr>
              <a:t>  MY</a:t>
            </a:r>
            <a:endParaRPr lang="en-US" sz="1200" dirty="0"/>
          </a:p>
        </p:txBody>
      </p:sp>
      <p:sp>
        <p:nvSpPr>
          <p:cNvPr id="35" name="Shape 33"/>
          <p:cNvSpPr/>
          <p:nvPr/>
        </p:nvSpPr>
        <p:spPr>
          <a:xfrm>
            <a:off x="3207881" y="1874520"/>
            <a:ext cx="914" cy="118872"/>
          </a:xfrm>
          <a:prstGeom prst="line">
            <a:avLst/>
          </a:prstGeom>
          <a:noFill/>
          <a:ln w="12700">
            <a:solidFill>
              <a:srgbClr val="E2D3AE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2778113" y="1993392"/>
            <a:ext cx="859536" cy="50292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E2D3AE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F2024"/>
                </a:solidFill>
              </a:rPr>
              <a:t>내 공구함</a:t>
            </a:r>
            <a:pPr algn="ctr" indent="0" marL="0">
              <a:buNone/>
            </a:pPr>
            <a:endParaRPr lang="en-US" sz="10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6B6F76"/>
                </a:solidFill>
              </a:rPr>
              <a:t>MY-01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3207881" y="2496312"/>
            <a:ext cx="914" cy="118872"/>
          </a:xfrm>
          <a:prstGeom prst="line">
            <a:avLst/>
          </a:prstGeom>
          <a:noFill/>
          <a:ln w="12700">
            <a:solidFill>
              <a:srgbClr val="E2D3AE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2778113" y="2615184"/>
            <a:ext cx="859536" cy="50292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E2D3AE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F2024"/>
                </a:solidFill>
              </a:rPr>
              <a:t>참여 상세</a:t>
            </a:r>
            <a:pPr algn="ctr" indent="0" marL="0">
              <a:buNone/>
            </a:pPr>
            <a:endParaRPr lang="en-US" sz="10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6B6F76"/>
                </a:solidFill>
              </a:rPr>
              <a:t>MY-02</a:t>
            </a:r>
            <a:endParaRPr lang="en-US" sz="1000" dirty="0"/>
          </a:p>
        </p:txBody>
      </p:sp>
      <p:sp>
        <p:nvSpPr>
          <p:cNvPr id="39" name="Shape 37"/>
          <p:cNvSpPr/>
          <p:nvPr/>
        </p:nvSpPr>
        <p:spPr>
          <a:xfrm>
            <a:off x="3207881" y="3118104"/>
            <a:ext cx="914" cy="118872"/>
          </a:xfrm>
          <a:prstGeom prst="line">
            <a:avLst/>
          </a:prstGeom>
          <a:noFill/>
          <a:ln w="12700">
            <a:solidFill>
              <a:srgbClr val="E2D3AE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2778113" y="3236976"/>
            <a:ext cx="859536" cy="50292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E2D3AE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F2024"/>
                </a:solidFill>
              </a:rPr>
              <a:t>참여 취소·환불 요청</a:t>
            </a:r>
            <a:pPr algn="ctr" indent="0" marL="0">
              <a:buNone/>
            </a:pPr>
            <a:endParaRPr lang="en-US" sz="10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6B6F76"/>
                </a:solidFill>
              </a:rPr>
              <a:t>MY-03</a:t>
            </a:r>
            <a:endParaRPr lang="en-US" sz="1000" dirty="0"/>
          </a:p>
        </p:txBody>
      </p:sp>
      <p:sp>
        <p:nvSpPr>
          <p:cNvPr id="41" name="Shape 39"/>
          <p:cNvSpPr/>
          <p:nvPr/>
        </p:nvSpPr>
        <p:spPr>
          <a:xfrm>
            <a:off x="3207881" y="3739896"/>
            <a:ext cx="914" cy="118872"/>
          </a:xfrm>
          <a:prstGeom prst="line">
            <a:avLst/>
          </a:prstGeom>
          <a:noFill/>
          <a:ln w="12700">
            <a:solidFill>
              <a:srgbClr val="E2D3AE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2778113" y="3858768"/>
            <a:ext cx="859536" cy="50292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E2D3AE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F2024"/>
                </a:solidFill>
              </a:rPr>
              <a:t>내 공구함 - 비어 있음</a:t>
            </a:r>
            <a:pPr algn="ctr" indent="0" marL="0">
              <a:buNone/>
            </a:pPr>
            <a:endParaRPr lang="en-US" sz="10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6B6F76"/>
                </a:solidFill>
              </a:rPr>
              <a:t>MY-04</a:t>
            </a:r>
            <a:endParaRPr lang="en-US" sz="1000" dirty="0"/>
          </a:p>
        </p:txBody>
      </p:sp>
      <p:sp>
        <p:nvSpPr>
          <p:cNvPr id="43" name="Shape 41"/>
          <p:cNvSpPr/>
          <p:nvPr/>
        </p:nvSpPr>
        <p:spPr>
          <a:xfrm flipH="1">
            <a:off x="4117294" y="868680"/>
            <a:ext cx="454706" cy="502920"/>
          </a:xfrm>
          <a:prstGeom prst="line">
            <a:avLst/>
          </a:prstGeom>
          <a:noFill/>
          <a:ln w="12700">
            <a:solidFill>
              <a:srgbClr val="E2D3AE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3687526" y="1371600"/>
            <a:ext cx="859536" cy="502920"/>
          </a:xfrm>
          <a:prstGeom prst="roundRect">
            <a:avLst>
              <a:gd name="adj" fmla="val 9091"/>
            </a:avLst>
          </a:prstGeom>
          <a:solidFill>
            <a:srgbClr val="E4762C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후기·문의·알림</a:t>
            </a:r>
            <a:pPr algn="ctr" indent="0" marL="0">
              <a:buNone/>
            </a:pPr>
            <a:r>
              <a:rPr lang="en-US" sz="900" dirty="0">
                <a:solidFill>
                  <a:srgbClr val="FBE7D3"/>
                </a:solidFill>
              </a:rPr>
              <a:t>  RV</a:t>
            </a:r>
            <a:endParaRPr lang="en-US" sz="1200" dirty="0"/>
          </a:p>
        </p:txBody>
      </p:sp>
      <p:sp>
        <p:nvSpPr>
          <p:cNvPr id="45" name="Shape 43"/>
          <p:cNvSpPr/>
          <p:nvPr/>
        </p:nvSpPr>
        <p:spPr>
          <a:xfrm>
            <a:off x="4117294" y="1874520"/>
            <a:ext cx="914" cy="118872"/>
          </a:xfrm>
          <a:prstGeom prst="line">
            <a:avLst/>
          </a:prstGeom>
          <a:noFill/>
          <a:ln w="12700">
            <a:solidFill>
              <a:srgbClr val="E2D3AE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3687526" y="1993392"/>
            <a:ext cx="859536" cy="50292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E2D3AE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F2024"/>
                </a:solidFill>
              </a:rPr>
              <a:t>후기 작성·목록</a:t>
            </a:r>
            <a:pPr algn="ctr" indent="0" marL="0">
              <a:buNone/>
            </a:pPr>
            <a:endParaRPr lang="en-US" sz="10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6B6F76"/>
                </a:solidFill>
              </a:rPr>
              <a:t>RV-01</a:t>
            </a:r>
            <a:endParaRPr lang="en-US" sz="1000" dirty="0"/>
          </a:p>
        </p:txBody>
      </p:sp>
      <p:sp>
        <p:nvSpPr>
          <p:cNvPr id="47" name="Shape 45"/>
          <p:cNvSpPr/>
          <p:nvPr/>
        </p:nvSpPr>
        <p:spPr>
          <a:xfrm>
            <a:off x="4117294" y="2496312"/>
            <a:ext cx="914" cy="118872"/>
          </a:xfrm>
          <a:prstGeom prst="line">
            <a:avLst/>
          </a:prstGeom>
          <a:noFill/>
          <a:ln w="12700">
            <a:solidFill>
              <a:srgbClr val="E2D3AE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3687526" y="2615184"/>
            <a:ext cx="859536" cy="50292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E2D3AE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F2024"/>
                </a:solidFill>
              </a:rPr>
              <a:t>상품 문의(Q&amp;A)</a:t>
            </a:r>
            <a:pPr algn="ctr" indent="0" marL="0">
              <a:buNone/>
            </a:pPr>
            <a:endParaRPr lang="en-US" sz="10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6B6F76"/>
                </a:solidFill>
              </a:rPr>
              <a:t>RV-02</a:t>
            </a:r>
            <a:endParaRPr lang="en-US" sz="1000" dirty="0"/>
          </a:p>
        </p:txBody>
      </p:sp>
      <p:sp>
        <p:nvSpPr>
          <p:cNvPr id="49" name="Shape 47"/>
          <p:cNvSpPr/>
          <p:nvPr/>
        </p:nvSpPr>
        <p:spPr>
          <a:xfrm>
            <a:off x="4117294" y="3118104"/>
            <a:ext cx="914" cy="118872"/>
          </a:xfrm>
          <a:prstGeom prst="line">
            <a:avLst/>
          </a:prstGeom>
          <a:noFill/>
          <a:ln w="12700">
            <a:solidFill>
              <a:srgbClr val="E2D3AE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3687526" y="3236976"/>
            <a:ext cx="859536" cy="50292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E2D3AE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F2024"/>
                </a:solidFill>
              </a:rPr>
              <a:t>관심 공구·알림함</a:t>
            </a:r>
            <a:pPr algn="ctr" indent="0" marL="0">
              <a:buNone/>
            </a:pPr>
            <a:endParaRPr lang="en-US" sz="10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6B6F76"/>
                </a:solidFill>
              </a:rPr>
              <a:t>RV-03</a:t>
            </a:r>
            <a:endParaRPr lang="en-US" sz="1000" dirty="0"/>
          </a:p>
        </p:txBody>
      </p:sp>
      <p:sp>
        <p:nvSpPr>
          <p:cNvPr id="51" name="Shape 49"/>
          <p:cNvSpPr/>
          <p:nvPr/>
        </p:nvSpPr>
        <p:spPr>
          <a:xfrm>
            <a:off x="4572000" y="868680"/>
            <a:ext cx="454706" cy="502920"/>
          </a:xfrm>
          <a:prstGeom prst="line">
            <a:avLst/>
          </a:prstGeom>
          <a:noFill/>
          <a:ln w="12700">
            <a:solidFill>
              <a:srgbClr val="E2D3AE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4596938" y="1371600"/>
            <a:ext cx="859536" cy="502920"/>
          </a:xfrm>
          <a:prstGeom prst="roundRect">
            <a:avLst>
              <a:gd name="adj" fmla="val 9091"/>
            </a:avLst>
          </a:prstGeom>
          <a:solidFill>
            <a:srgbClr val="E4762C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계정</a:t>
            </a:r>
            <a:pPr algn="ctr" indent="0" marL="0">
              <a:buNone/>
            </a:pPr>
            <a:r>
              <a:rPr lang="en-US" sz="900" dirty="0">
                <a:solidFill>
                  <a:srgbClr val="FBE7D3"/>
                </a:solidFill>
              </a:rPr>
              <a:t>  AC</a:t>
            </a:r>
            <a:endParaRPr lang="en-US" sz="1200" dirty="0"/>
          </a:p>
        </p:txBody>
      </p:sp>
      <p:sp>
        <p:nvSpPr>
          <p:cNvPr id="53" name="Shape 51"/>
          <p:cNvSpPr/>
          <p:nvPr/>
        </p:nvSpPr>
        <p:spPr>
          <a:xfrm>
            <a:off x="5026706" y="1874520"/>
            <a:ext cx="914" cy="118872"/>
          </a:xfrm>
          <a:prstGeom prst="line">
            <a:avLst/>
          </a:prstGeom>
          <a:noFill/>
          <a:ln w="12700">
            <a:solidFill>
              <a:srgbClr val="E2D3AE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4596938" y="1993392"/>
            <a:ext cx="859536" cy="50292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E2D3AE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F2024"/>
                </a:solidFill>
              </a:rPr>
              <a:t>로그인·회원가입</a:t>
            </a:r>
            <a:pPr algn="ctr" indent="0" marL="0">
              <a:buNone/>
            </a:pPr>
            <a:endParaRPr lang="en-US" sz="10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6B6F76"/>
                </a:solidFill>
              </a:rPr>
              <a:t>AC-01</a:t>
            </a:r>
            <a:endParaRPr lang="en-US" sz="1000" dirty="0"/>
          </a:p>
        </p:txBody>
      </p:sp>
      <p:sp>
        <p:nvSpPr>
          <p:cNvPr id="55" name="Shape 53"/>
          <p:cNvSpPr/>
          <p:nvPr/>
        </p:nvSpPr>
        <p:spPr>
          <a:xfrm>
            <a:off x="5026706" y="2496312"/>
            <a:ext cx="914" cy="118872"/>
          </a:xfrm>
          <a:prstGeom prst="line">
            <a:avLst/>
          </a:prstGeom>
          <a:noFill/>
          <a:ln w="12700">
            <a:solidFill>
              <a:srgbClr val="E2D3AE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4596938" y="2615184"/>
            <a:ext cx="859536" cy="50292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E2D3AE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F2024"/>
                </a:solidFill>
              </a:rPr>
              <a:t>내 정보·배송지</a:t>
            </a:r>
            <a:pPr algn="ctr" indent="0" marL="0">
              <a:buNone/>
            </a:pPr>
            <a:endParaRPr lang="en-US" sz="10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6B6F76"/>
                </a:solidFill>
              </a:rPr>
              <a:t>AC-02</a:t>
            </a:r>
            <a:endParaRPr lang="en-US" sz="1000" dirty="0"/>
          </a:p>
        </p:txBody>
      </p:sp>
      <p:sp>
        <p:nvSpPr>
          <p:cNvPr id="57" name="Shape 55"/>
          <p:cNvSpPr/>
          <p:nvPr/>
        </p:nvSpPr>
        <p:spPr>
          <a:xfrm>
            <a:off x="5026706" y="3118104"/>
            <a:ext cx="914" cy="118872"/>
          </a:xfrm>
          <a:prstGeom prst="line">
            <a:avLst/>
          </a:prstGeom>
          <a:noFill/>
          <a:ln w="12700">
            <a:solidFill>
              <a:srgbClr val="E2D3AE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4596938" y="3236976"/>
            <a:ext cx="859536" cy="50292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E2D3AE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F2024"/>
                </a:solidFill>
              </a:rPr>
              <a:t>알림 설정</a:t>
            </a:r>
            <a:pPr algn="ctr" indent="0" marL="0">
              <a:buNone/>
            </a:pPr>
            <a:endParaRPr lang="en-US" sz="10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6B6F76"/>
                </a:solidFill>
              </a:rPr>
              <a:t>AC-03</a:t>
            </a:r>
            <a:endParaRPr lang="en-US" sz="1000" dirty="0"/>
          </a:p>
        </p:txBody>
      </p:sp>
      <p:sp>
        <p:nvSpPr>
          <p:cNvPr id="59" name="Shape 57"/>
          <p:cNvSpPr/>
          <p:nvPr/>
        </p:nvSpPr>
        <p:spPr>
          <a:xfrm>
            <a:off x="4572000" y="868680"/>
            <a:ext cx="1364119" cy="502920"/>
          </a:xfrm>
          <a:prstGeom prst="line">
            <a:avLst/>
          </a:prstGeom>
          <a:noFill/>
          <a:ln w="12700">
            <a:solidFill>
              <a:srgbClr val="E2D3AE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5506351" y="1371600"/>
            <a:ext cx="859536" cy="502920"/>
          </a:xfrm>
          <a:prstGeom prst="roundRect">
            <a:avLst>
              <a:gd name="adj" fmla="val 9091"/>
            </a:avLst>
          </a:prstGeom>
          <a:solidFill>
            <a:srgbClr val="E4762C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공구 개설(진행자)</a:t>
            </a:r>
            <a:pPr algn="ctr" indent="0" marL="0">
              <a:buNone/>
            </a:pPr>
            <a:r>
              <a:rPr lang="en-US" sz="900" dirty="0">
                <a:solidFill>
                  <a:srgbClr val="FBE7D3"/>
                </a:solidFill>
              </a:rPr>
              <a:t>  HS</a:t>
            </a:r>
            <a:endParaRPr lang="en-US" sz="1200" dirty="0"/>
          </a:p>
        </p:txBody>
      </p:sp>
      <p:sp>
        <p:nvSpPr>
          <p:cNvPr id="61" name="Shape 59"/>
          <p:cNvSpPr/>
          <p:nvPr/>
        </p:nvSpPr>
        <p:spPr>
          <a:xfrm>
            <a:off x="5936119" y="1874520"/>
            <a:ext cx="914" cy="118872"/>
          </a:xfrm>
          <a:prstGeom prst="line">
            <a:avLst/>
          </a:prstGeom>
          <a:noFill/>
          <a:ln w="12700">
            <a:solidFill>
              <a:srgbClr val="E2D3AE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5506351" y="1993392"/>
            <a:ext cx="859536" cy="50292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E2D3AE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F2024"/>
                </a:solidFill>
              </a:rPr>
              <a:t>진행자 시작 안내</a:t>
            </a:r>
            <a:pPr algn="ctr" indent="0" marL="0">
              <a:buNone/>
            </a:pPr>
            <a:endParaRPr lang="en-US" sz="10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6B6F76"/>
                </a:solidFill>
              </a:rPr>
              <a:t>HS-01</a:t>
            </a:r>
            <a:endParaRPr lang="en-US" sz="1000" dirty="0"/>
          </a:p>
        </p:txBody>
      </p:sp>
      <p:sp>
        <p:nvSpPr>
          <p:cNvPr id="63" name="Shape 61"/>
          <p:cNvSpPr/>
          <p:nvPr/>
        </p:nvSpPr>
        <p:spPr>
          <a:xfrm>
            <a:off x="5936119" y="2496312"/>
            <a:ext cx="914" cy="118872"/>
          </a:xfrm>
          <a:prstGeom prst="line">
            <a:avLst/>
          </a:prstGeom>
          <a:noFill/>
          <a:ln w="12700">
            <a:solidFill>
              <a:srgbClr val="E2D3AE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5506351" y="2615184"/>
            <a:ext cx="859536" cy="50292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E2D3AE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F2024"/>
                </a:solidFill>
              </a:rPr>
              <a:t>공구 개설 폼</a:t>
            </a:r>
            <a:pPr algn="ctr" indent="0" marL="0">
              <a:buNone/>
            </a:pPr>
            <a:endParaRPr lang="en-US" sz="10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6B6F76"/>
                </a:solidFill>
              </a:rPr>
              <a:t>HS-02</a:t>
            </a:r>
            <a:endParaRPr lang="en-US" sz="1000" dirty="0"/>
          </a:p>
        </p:txBody>
      </p:sp>
      <p:sp>
        <p:nvSpPr>
          <p:cNvPr id="65" name="Shape 63"/>
          <p:cNvSpPr/>
          <p:nvPr/>
        </p:nvSpPr>
        <p:spPr>
          <a:xfrm>
            <a:off x="5936119" y="3118104"/>
            <a:ext cx="914" cy="118872"/>
          </a:xfrm>
          <a:prstGeom prst="line">
            <a:avLst/>
          </a:prstGeom>
          <a:noFill/>
          <a:ln w="12700">
            <a:solidFill>
              <a:srgbClr val="E2D3AE"/>
            </a:solidFill>
            <a:prstDash val="solid"/>
          </a:ln>
        </p:spPr>
      </p:sp>
      <p:sp>
        <p:nvSpPr>
          <p:cNvPr id="66" name="Text 64"/>
          <p:cNvSpPr/>
          <p:nvPr/>
        </p:nvSpPr>
        <p:spPr>
          <a:xfrm>
            <a:off x="5506351" y="3236976"/>
            <a:ext cx="859536" cy="50292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E2D3AE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F2024"/>
                </a:solidFill>
              </a:rPr>
              <a:t>개설 검수 대기·반려</a:t>
            </a:r>
            <a:pPr algn="ctr" indent="0" marL="0">
              <a:buNone/>
            </a:pPr>
            <a:endParaRPr lang="en-US" sz="10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6B6F76"/>
                </a:solidFill>
              </a:rPr>
              <a:t>HS-03</a:t>
            </a:r>
            <a:endParaRPr lang="en-US" sz="1000" dirty="0"/>
          </a:p>
        </p:txBody>
      </p:sp>
      <p:sp>
        <p:nvSpPr>
          <p:cNvPr id="67" name="Shape 65"/>
          <p:cNvSpPr/>
          <p:nvPr/>
        </p:nvSpPr>
        <p:spPr>
          <a:xfrm>
            <a:off x="4572000" y="868680"/>
            <a:ext cx="2273531" cy="502920"/>
          </a:xfrm>
          <a:prstGeom prst="line">
            <a:avLst/>
          </a:prstGeom>
          <a:noFill/>
          <a:ln w="12700">
            <a:solidFill>
              <a:srgbClr val="E2D3AE"/>
            </a:solidFill>
            <a:prstDash val="solid"/>
          </a:ln>
        </p:spPr>
      </p:sp>
      <p:sp>
        <p:nvSpPr>
          <p:cNvPr id="68" name="Text 66"/>
          <p:cNvSpPr/>
          <p:nvPr/>
        </p:nvSpPr>
        <p:spPr>
          <a:xfrm>
            <a:off x="6415763" y="1371600"/>
            <a:ext cx="859536" cy="502920"/>
          </a:xfrm>
          <a:prstGeom prst="roundRect">
            <a:avLst>
              <a:gd name="adj" fmla="val 9091"/>
            </a:avLst>
          </a:prstGeom>
          <a:solidFill>
            <a:srgbClr val="E4762C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공구 관리(진행자)</a:t>
            </a:r>
            <a:pPr algn="ctr" indent="0" marL="0">
              <a:buNone/>
            </a:pPr>
            <a:r>
              <a:rPr lang="en-US" sz="900" dirty="0">
                <a:solidFill>
                  <a:srgbClr val="FBE7D3"/>
                </a:solidFill>
              </a:rPr>
              <a:t>  HM</a:t>
            </a:r>
            <a:endParaRPr lang="en-US" sz="1200" dirty="0"/>
          </a:p>
        </p:txBody>
      </p:sp>
      <p:sp>
        <p:nvSpPr>
          <p:cNvPr id="69" name="Shape 67"/>
          <p:cNvSpPr/>
          <p:nvPr/>
        </p:nvSpPr>
        <p:spPr>
          <a:xfrm>
            <a:off x="6845531" y="1874520"/>
            <a:ext cx="914" cy="118872"/>
          </a:xfrm>
          <a:prstGeom prst="line">
            <a:avLst/>
          </a:prstGeom>
          <a:noFill/>
          <a:ln w="12700">
            <a:solidFill>
              <a:srgbClr val="E2D3AE"/>
            </a:solidFill>
            <a:prstDash val="solid"/>
          </a:ln>
        </p:spPr>
      </p:sp>
      <p:sp>
        <p:nvSpPr>
          <p:cNvPr id="70" name="Text 68"/>
          <p:cNvSpPr/>
          <p:nvPr/>
        </p:nvSpPr>
        <p:spPr>
          <a:xfrm>
            <a:off x="6415763" y="1993392"/>
            <a:ext cx="859536" cy="50292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E2D3AE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F2024"/>
                </a:solidFill>
              </a:rPr>
              <a:t>진행자 대시보드</a:t>
            </a:r>
            <a:pPr algn="ctr" indent="0" marL="0">
              <a:buNone/>
            </a:pPr>
            <a:endParaRPr lang="en-US" sz="10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6B6F76"/>
                </a:solidFill>
              </a:rPr>
              <a:t>HM-01</a:t>
            </a:r>
            <a:endParaRPr lang="en-US" sz="1000" dirty="0"/>
          </a:p>
        </p:txBody>
      </p:sp>
      <p:sp>
        <p:nvSpPr>
          <p:cNvPr id="71" name="Shape 69"/>
          <p:cNvSpPr/>
          <p:nvPr/>
        </p:nvSpPr>
        <p:spPr>
          <a:xfrm>
            <a:off x="6845531" y="2496312"/>
            <a:ext cx="914" cy="118872"/>
          </a:xfrm>
          <a:prstGeom prst="line">
            <a:avLst/>
          </a:prstGeom>
          <a:noFill/>
          <a:ln w="12700">
            <a:solidFill>
              <a:srgbClr val="E2D3AE"/>
            </a:solidFill>
            <a:prstDash val="solid"/>
          </a:ln>
        </p:spPr>
      </p:sp>
      <p:sp>
        <p:nvSpPr>
          <p:cNvPr id="72" name="Text 70"/>
          <p:cNvSpPr/>
          <p:nvPr/>
        </p:nvSpPr>
        <p:spPr>
          <a:xfrm>
            <a:off x="6415763" y="2615184"/>
            <a:ext cx="859536" cy="50292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E2D3AE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F2024"/>
                </a:solidFill>
              </a:rPr>
              <a:t>공구별 참여 현황</a:t>
            </a:r>
            <a:pPr algn="ctr" indent="0" marL="0">
              <a:buNone/>
            </a:pPr>
            <a:endParaRPr lang="en-US" sz="10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6B6F76"/>
                </a:solidFill>
              </a:rPr>
              <a:t>HM-02</a:t>
            </a:r>
            <a:endParaRPr lang="en-US" sz="1000" dirty="0"/>
          </a:p>
        </p:txBody>
      </p:sp>
      <p:sp>
        <p:nvSpPr>
          <p:cNvPr id="73" name="Shape 71"/>
          <p:cNvSpPr/>
          <p:nvPr/>
        </p:nvSpPr>
        <p:spPr>
          <a:xfrm>
            <a:off x="6845531" y="3118104"/>
            <a:ext cx="914" cy="118872"/>
          </a:xfrm>
          <a:prstGeom prst="line">
            <a:avLst/>
          </a:prstGeom>
          <a:noFill/>
          <a:ln w="12700">
            <a:solidFill>
              <a:srgbClr val="E2D3AE"/>
            </a:solidFill>
            <a:prstDash val="solid"/>
          </a:ln>
        </p:spPr>
      </p:sp>
      <p:sp>
        <p:nvSpPr>
          <p:cNvPr id="74" name="Text 72"/>
          <p:cNvSpPr/>
          <p:nvPr/>
        </p:nvSpPr>
        <p:spPr>
          <a:xfrm>
            <a:off x="6415763" y="3236976"/>
            <a:ext cx="859536" cy="50292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E2D3AE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F2024"/>
                </a:solidFill>
              </a:rPr>
              <a:t>마감·성사 처리</a:t>
            </a:r>
            <a:pPr algn="ctr" indent="0" marL="0">
              <a:buNone/>
            </a:pPr>
            <a:endParaRPr lang="en-US" sz="10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6B6F76"/>
                </a:solidFill>
              </a:rPr>
              <a:t>HM-03</a:t>
            </a:r>
            <a:endParaRPr lang="en-US" sz="1000" dirty="0"/>
          </a:p>
        </p:txBody>
      </p:sp>
      <p:sp>
        <p:nvSpPr>
          <p:cNvPr id="75" name="Shape 73"/>
          <p:cNvSpPr/>
          <p:nvPr/>
        </p:nvSpPr>
        <p:spPr>
          <a:xfrm>
            <a:off x="6845531" y="3739896"/>
            <a:ext cx="914" cy="118872"/>
          </a:xfrm>
          <a:prstGeom prst="line">
            <a:avLst/>
          </a:prstGeom>
          <a:noFill/>
          <a:ln w="12700">
            <a:solidFill>
              <a:srgbClr val="E2D3AE"/>
            </a:solidFill>
            <a:prstDash val="solid"/>
          </a:ln>
        </p:spPr>
      </p:sp>
      <p:sp>
        <p:nvSpPr>
          <p:cNvPr id="76" name="Text 74"/>
          <p:cNvSpPr/>
          <p:nvPr/>
        </p:nvSpPr>
        <p:spPr>
          <a:xfrm>
            <a:off x="6415763" y="3858768"/>
            <a:ext cx="859536" cy="50292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E2D3AE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F2024"/>
                </a:solidFill>
              </a:rPr>
              <a:t>발주·배송 관리</a:t>
            </a:r>
            <a:pPr algn="ctr" indent="0" marL="0">
              <a:buNone/>
            </a:pPr>
            <a:endParaRPr lang="en-US" sz="10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6B6F76"/>
                </a:solidFill>
              </a:rPr>
              <a:t>HM-04</a:t>
            </a:r>
            <a:endParaRPr lang="en-US" sz="1000" dirty="0"/>
          </a:p>
        </p:txBody>
      </p:sp>
      <p:sp>
        <p:nvSpPr>
          <p:cNvPr id="77" name="Shape 75"/>
          <p:cNvSpPr/>
          <p:nvPr/>
        </p:nvSpPr>
        <p:spPr>
          <a:xfrm>
            <a:off x="6845531" y="4361688"/>
            <a:ext cx="914" cy="118872"/>
          </a:xfrm>
          <a:prstGeom prst="line">
            <a:avLst/>
          </a:prstGeom>
          <a:noFill/>
          <a:ln w="12700">
            <a:solidFill>
              <a:srgbClr val="E2D3AE"/>
            </a:solidFill>
            <a:prstDash val="solid"/>
          </a:ln>
        </p:spPr>
      </p:sp>
      <p:sp>
        <p:nvSpPr>
          <p:cNvPr id="78" name="Text 76"/>
          <p:cNvSpPr/>
          <p:nvPr/>
        </p:nvSpPr>
        <p:spPr>
          <a:xfrm>
            <a:off x="6415763" y="4480560"/>
            <a:ext cx="859536" cy="50292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E2D3AE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F2024"/>
                </a:solidFill>
              </a:rPr>
              <a:t>참여자 공지·알림 발송</a:t>
            </a:r>
            <a:pPr algn="ctr" indent="0" marL="0">
              <a:buNone/>
            </a:pPr>
            <a:endParaRPr lang="en-US" sz="10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6B6F76"/>
                </a:solidFill>
              </a:rPr>
              <a:t>HM-05</a:t>
            </a:r>
            <a:endParaRPr lang="en-US" sz="1000" dirty="0"/>
          </a:p>
        </p:txBody>
      </p:sp>
      <p:sp>
        <p:nvSpPr>
          <p:cNvPr id="79" name="Shape 77"/>
          <p:cNvSpPr/>
          <p:nvPr/>
        </p:nvSpPr>
        <p:spPr>
          <a:xfrm>
            <a:off x="4572000" y="868680"/>
            <a:ext cx="3182943" cy="502920"/>
          </a:xfrm>
          <a:prstGeom prst="line">
            <a:avLst/>
          </a:prstGeom>
          <a:noFill/>
          <a:ln w="12700">
            <a:solidFill>
              <a:srgbClr val="E2D3AE"/>
            </a:solidFill>
            <a:prstDash val="solid"/>
          </a:ln>
        </p:spPr>
      </p:sp>
      <p:sp>
        <p:nvSpPr>
          <p:cNvPr id="80" name="Text 78"/>
          <p:cNvSpPr/>
          <p:nvPr/>
        </p:nvSpPr>
        <p:spPr>
          <a:xfrm>
            <a:off x="7325175" y="1371600"/>
            <a:ext cx="859536" cy="502920"/>
          </a:xfrm>
          <a:prstGeom prst="roundRect">
            <a:avLst>
              <a:gd name="adj" fmla="val 9091"/>
            </a:avLst>
          </a:prstGeom>
          <a:solidFill>
            <a:srgbClr val="E4762C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정산(진행자)</a:t>
            </a:r>
            <a:pPr algn="ctr" indent="0" marL="0">
              <a:buNone/>
            </a:pPr>
            <a:r>
              <a:rPr lang="en-US" sz="900" dirty="0">
                <a:solidFill>
                  <a:srgbClr val="FBE7D3"/>
                </a:solidFill>
              </a:rPr>
              <a:t>  SE</a:t>
            </a:r>
            <a:endParaRPr lang="en-US" sz="1200" dirty="0"/>
          </a:p>
        </p:txBody>
      </p:sp>
      <p:sp>
        <p:nvSpPr>
          <p:cNvPr id="81" name="Shape 79"/>
          <p:cNvSpPr/>
          <p:nvPr/>
        </p:nvSpPr>
        <p:spPr>
          <a:xfrm>
            <a:off x="7754943" y="1874520"/>
            <a:ext cx="914" cy="118872"/>
          </a:xfrm>
          <a:prstGeom prst="line">
            <a:avLst/>
          </a:prstGeom>
          <a:noFill/>
          <a:ln w="12700">
            <a:solidFill>
              <a:srgbClr val="E2D3AE"/>
            </a:solidFill>
            <a:prstDash val="solid"/>
          </a:ln>
        </p:spPr>
      </p:sp>
      <p:sp>
        <p:nvSpPr>
          <p:cNvPr id="82" name="Text 80"/>
          <p:cNvSpPr/>
          <p:nvPr/>
        </p:nvSpPr>
        <p:spPr>
          <a:xfrm>
            <a:off x="7325175" y="1993392"/>
            <a:ext cx="859536" cy="50292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E2D3AE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F2024"/>
                </a:solidFill>
              </a:rPr>
              <a:t>정산 내역</a:t>
            </a:r>
            <a:pPr algn="ctr" indent="0" marL="0">
              <a:buNone/>
            </a:pPr>
            <a:endParaRPr lang="en-US" sz="10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6B6F76"/>
                </a:solidFill>
              </a:rPr>
              <a:t>SE-01</a:t>
            </a:r>
            <a:endParaRPr lang="en-US" sz="1000" dirty="0"/>
          </a:p>
        </p:txBody>
      </p:sp>
      <p:sp>
        <p:nvSpPr>
          <p:cNvPr id="83" name="Shape 81"/>
          <p:cNvSpPr/>
          <p:nvPr/>
        </p:nvSpPr>
        <p:spPr>
          <a:xfrm>
            <a:off x="7754943" y="2496312"/>
            <a:ext cx="914" cy="118872"/>
          </a:xfrm>
          <a:prstGeom prst="line">
            <a:avLst/>
          </a:prstGeom>
          <a:noFill/>
          <a:ln w="12700">
            <a:solidFill>
              <a:srgbClr val="E2D3AE"/>
            </a:solidFill>
            <a:prstDash val="solid"/>
          </a:ln>
        </p:spPr>
      </p:sp>
      <p:sp>
        <p:nvSpPr>
          <p:cNvPr id="84" name="Text 82"/>
          <p:cNvSpPr/>
          <p:nvPr/>
        </p:nvSpPr>
        <p:spPr>
          <a:xfrm>
            <a:off x="7325175" y="2615184"/>
            <a:ext cx="859536" cy="50292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E2D3AE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F2024"/>
                </a:solidFill>
              </a:rPr>
              <a:t>정산 계좌·세금 설정</a:t>
            </a:r>
            <a:pPr algn="ctr" indent="0" marL="0">
              <a:buNone/>
            </a:pPr>
            <a:endParaRPr lang="en-US" sz="10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6B6F76"/>
                </a:solidFill>
              </a:rPr>
              <a:t>SE-02</a:t>
            </a:r>
            <a:endParaRPr lang="en-US" sz="1000" dirty="0"/>
          </a:p>
        </p:txBody>
      </p:sp>
      <p:sp>
        <p:nvSpPr>
          <p:cNvPr id="85" name="Shape 83"/>
          <p:cNvSpPr/>
          <p:nvPr/>
        </p:nvSpPr>
        <p:spPr>
          <a:xfrm>
            <a:off x="7754943" y="3118104"/>
            <a:ext cx="914" cy="118872"/>
          </a:xfrm>
          <a:prstGeom prst="line">
            <a:avLst/>
          </a:prstGeom>
          <a:noFill/>
          <a:ln w="12700">
            <a:solidFill>
              <a:srgbClr val="E2D3AE"/>
            </a:solidFill>
            <a:prstDash val="solid"/>
          </a:ln>
        </p:spPr>
      </p:sp>
      <p:sp>
        <p:nvSpPr>
          <p:cNvPr id="86" name="Text 84"/>
          <p:cNvSpPr/>
          <p:nvPr/>
        </p:nvSpPr>
        <p:spPr>
          <a:xfrm>
            <a:off x="7325175" y="3236976"/>
            <a:ext cx="859536" cy="50292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E2D3AE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F2024"/>
                </a:solidFill>
              </a:rPr>
              <a:t>정산 상세</a:t>
            </a:r>
            <a:pPr algn="ctr" indent="0" marL="0">
              <a:buNone/>
            </a:pPr>
            <a:endParaRPr lang="en-US" sz="10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6B6F76"/>
                </a:solidFill>
              </a:rPr>
              <a:t>SE-03</a:t>
            </a:r>
            <a:endParaRPr lang="en-US" sz="1000" dirty="0"/>
          </a:p>
        </p:txBody>
      </p:sp>
      <p:sp>
        <p:nvSpPr>
          <p:cNvPr id="87" name="Shape 85"/>
          <p:cNvSpPr/>
          <p:nvPr/>
        </p:nvSpPr>
        <p:spPr>
          <a:xfrm>
            <a:off x="4572000" y="868680"/>
            <a:ext cx="4092356" cy="502920"/>
          </a:xfrm>
          <a:prstGeom prst="line">
            <a:avLst/>
          </a:prstGeom>
          <a:noFill/>
          <a:ln w="12700">
            <a:solidFill>
              <a:srgbClr val="E2D3AE"/>
            </a:solidFill>
            <a:prstDash val="solid"/>
          </a:ln>
        </p:spPr>
      </p:sp>
      <p:sp>
        <p:nvSpPr>
          <p:cNvPr id="88" name="Text 86"/>
          <p:cNvSpPr/>
          <p:nvPr/>
        </p:nvSpPr>
        <p:spPr>
          <a:xfrm>
            <a:off x="8234588" y="1371600"/>
            <a:ext cx="859536" cy="502920"/>
          </a:xfrm>
          <a:prstGeom prst="roundRect">
            <a:avLst>
              <a:gd name="adj" fmla="val 9091"/>
            </a:avLst>
          </a:prstGeom>
          <a:solidFill>
            <a:srgbClr val="E4762C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고객지원</a:t>
            </a:r>
            <a:pPr algn="ctr" indent="0" marL="0">
              <a:buNone/>
            </a:pPr>
            <a:r>
              <a:rPr lang="en-US" sz="900" dirty="0">
                <a:solidFill>
                  <a:srgbClr val="FBE7D3"/>
                </a:solidFill>
              </a:rPr>
              <a:t>  CS</a:t>
            </a:r>
            <a:endParaRPr lang="en-US" sz="1200" dirty="0"/>
          </a:p>
        </p:txBody>
      </p:sp>
      <p:sp>
        <p:nvSpPr>
          <p:cNvPr id="89" name="Shape 87"/>
          <p:cNvSpPr/>
          <p:nvPr/>
        </p:nvSpPr>
        <p:spPr>
          <a:xfrm>
            <a:off x="8664356" y="1874520"/>
            <a:ext cx="914" cy="118872"/>
          </a:xfrm>
          <a:prstGeom prst="line">
            <a:avLst/>
          </a:prstGeom>
          <a:noFill/>
          <a:ln w="12700">
            <a:solidFill>
              <a:srgbClr val="E2D3AE"/>
            </a:solidFill>
            <a:prstDash val="solid"/>
          </a:ln>
        </p:spPr>
      </p:sp>
      <p:sp>
        <p:nvSpPr>
          <p:cNvPr id="90" name="Text 88"/>
          <p:cNvSpPr/>
          <p:nvPr/>
        </p:nvSpPr>
        <p:spPr>
          <a:xfrm>
            <a:off x="8234588" y="1993392"/>
            <a:ext cx="859536" cy="50292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E2D3AE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F2024"/>
                </a:solidFill>
              </a:rPr>
              <a:t>이용 안내·자주 묻는 질문</a:t>
            </a:r>
            <a:pPr algn="ctr" indent="0" marL="0">
              <a:buNone/>
            </a:pPr>
            <a:endParaRPr lang="en-US" sz="10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6B6F76"/>
                </a:solidFill>
              </a:rPr>
              <a:t>CS-01</a:t>
            </a:r>
            <a:endParaRPr lang="en-US" sz="1000" dirty="0"/>
          </a:p>
        </p:txBody>
      </p:sp>
      <p:sp>
        <p:nvSpPr>
          <p:cNvPr id="91" name="Shape 89"/>
          <p:cNvSpPr/>
          <p:nvPr/>
        </p:nvSpPr>
        <p:spPr>
          <a:xfrm>
            <a:off x="8664356" y="2496312"/>
            <a:ext cx="914" cy="118872"/>
          </a:xfrm>
          <a:prstGeom prst="line">
            <a:avLst/>
          </a:prstGeom>
          <a:noFill/>
          <a:ln w="12700">
            <a:solidFill>
              <a:srgbClr val="E2D3AE"/>
            </a:solidFill>
            <a:prstDash val="solid"/>
          </a:ln>
        </p:spPr>
      </p:sp>
      <p:sp>
        <p:nvSpPr>
          <p:cNvPr id="92" name="Text 90"/>
          <p:cNvSpPr/>
          <p:nvPr/>
        </p:nvSpPr>
        <p:spPr>
          <a:xfrm>
            <a:off x="8234588" y="2615184"/>
            <a:ext cx="859536" cy="50292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E2D3AE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F2024"/>
                </a:solidFill>
              </a:rPr>
              <a:t>1:1 문의</a:t>
            </a:r>
            <a:pPr algn="ctr" indent="0" marL="0">
              <a:buNone/>
            </a:pPr>
            <a:endParaRPr lang="en-US" sz="10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6B6F76"/>
                </a:solidFill>
              </a:rPr>
              <a:t>CS-02</a:t>
            </a:r>
            <a:endParaRPr lang="en-US" sz="1000" dirty="0"/>
          </a:p>
        </p:txBody>
      </p:sp>
      <p:sp>
        <p:nvSpPr>
          <p:cNvPr id="93" name="Shape 91"/>
          <p:cNvSpPr/>
          <p:nvPr/>
        </p:nvSpPr>
        <p:spPr>
          <a:xfrm>
            <a:off x="8664356" y="3118104"/>
            <a:ext cx="914" cy="118872"/>
          </a:xfrm>
          <a:prstGeom prst="line">
            <a:avLst/>
          </a:prstGeom>
          <a:noFill/>
          <a:ln w="12700">
            <a:solidFill>
              <a:srgbClr val="E2D3AE"/>
            </a:solidFill>
            <a:prstDash val="solid"/>
          </a:ln>
        </p:spPr>
      </p:sp>
      <p:sp>
        <p:nvSpPr>
          <p:cNvPr id="94" name="Text 92"/>
          <p:cNvSpPr/>
          <p:nvPr/>
        </p:nvSpPr>
        <p:spPr>
          <a:xfrm>
            <a:off x="8234588" y="3236976"/>
            <a:ext cx="859536" cy="50292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E2D3AE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F2024"/>
                </a:solidFill>
              </a:rPr>
              <a:t>공지·이벤트</a:t>
            </a:r>
            <a:pPr algn="ctr" indent="0" marL="0">
              <a:buNone/>
            </a:pPr>
            <a:endParaRPr lang="en-US" sz="10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6B6F76"/>
                </a:solidFill>
              </a:rPr>
              <a:t>CS-03</a:t>
            </a:r>
            <a:endParaRPr lang="en-US" sz="1000" dirty="0"/>
          </a:p>
        </p:txBody>
      </p:sp>
      <p:sp>
        <p:nvSpPr>
          <p:cNvPr id="95" name="Shape 93"/>
          <p:cNvSpPr/>
          <p:nvPr/>
        </p:nvSpPr>
        <p:spPr>
          <a:xfrm>
            <a:off x="8664356" y="3739896"/>
            <a:ext cx="914" cy="118872"/>
          </a:xfrm>
          <a:prstGeom prst="line">
            <a:avLst/>
          </a:prstGeom>
          <a:noFill/>
          <a:ln w="12700">
            <a:solidFill>
              <a:srgbClr val="E2D3AE"/>
            </a:solidFill>
            <a:prstDash val="solid"/>
          </a:ln>
        </p:spPr>
      </p:sp>
      <p:sp>
        <p:nvSpPr>
          <p:cNvPr id="96" name="Text 94"/>
          <p:cNvSpPr/>
          <p:nvPr/>
        </p:nvSpPr>
        <p:spPr>
          <a:xfrm>
            <a:off x="8234588" y="3858768"/>
            <a:ext cx="859536" cy="50292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E2D3AE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F2024"/>
                </a:solidFill>
              </a:rPr>
              <a:t>환불·분쟁 정책 안내</a:t>
            </a:r>
            <a:pPr algn="ctr" indent="0" marL="0">
              <a:buNone/>
            </a:pPr>
            <a:endParaRPr lang="en-US" sz="10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6B6F76"/>
                </a:solidFill>
              </a:rPr>
              <a:t>CS-04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2026-08-11T04:36:40Z</dcterms:created>
  <dcterms:modified xsi:type="dcterms:W3CDTF">2026-08-11T04:36:40Z</dcterms:modified>
</cp:coreProperties>
</file>